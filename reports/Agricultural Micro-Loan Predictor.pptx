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embeddedFontLst>
    <p:embeddedFont>
      <p:font typeface="Urbanist" panose="020B0604020202020204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CDCD309-AE55-456B-9DFD-725FCAEF04BD}">
  <a:tblStyle styleId="{4CDCD309-AE55-456B-9DFD-725FCAEF04B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67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4802981"/>
            <a:ext cx="85725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900475" y="988218"/>
            <a:ext cx="839104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Agricultural </a:t>
            </a:r>
            <a:r>
              <a:rPr lang="en-US" sz="4125" b="1" i="0" u="none" strike="noStrike" cap="none">
                <a:solidFill>
                  <a:srgbClr val="4CAF50"/>
                </a:solidFill>
                <a:latin typeface="Urbanist"/>
                <a:ea typeface="Urbanist"/>
                <a:cs typeface="Urbanist"/>
                <a:sym typeface="Urbanist"/>
              </a:rPr>
              <a:t>Micro-Loan</a:t>
            </a:r>
            <a:r>
              <a:rPr lang="en-US" sz="412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Crisis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709987" y="1850231"/>
            <a:ext cx="47720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Empowering Kenyan Farmers with Data-Driven Decision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2095500" y="2421731"/>
            <a:ext cx="8286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What problem?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Kenyan microfinance institutions and SACCOs face severe financial risk from agricultural loan defaults.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2095500" y="3183731"/>
            <a:ext cx="8286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Who does it affect?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It impacts financial institutions via lost liquidity and smallholder farmers via tighter credit standards.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2095500" y="3945731"/>
            <a:ext cx="8286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Why does it matter now?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Agricultural lending is highly volatile due to climate risks, and manual assessments are too slow and biased to manage this effectively.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2047875" y="4993481"/>
            <a:ext cx="81438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~21.8% of agricultural loans default, creating significant financial losses and operational strain for SACCOs.</a:t>
            </a:r>
            <a:endParaRPr/>
          </a:p>
        </p:txBody>
      </p:sp>
      <p:pic>
        <p:nvPicPr>
          <p:cNvPr id="92" name="Google Shape;92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2440781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202781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964781"/>
            <a:ext cx="952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476250" y="381000"/>
            <a:ext cx="11715750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Data &amp; </a:t>
            </a:r>
            <a:r>
              <a:rPr lang="en-US" sz="3375" b="1" i="0" u="none" strike="noStrike" cap="none">
                <a:solidFill>
                  <a:srgbClr val="4CAF50"/>
                </a:solidFill>
                <a:latin typeface="Urbanist"/>
                <a:ea typeface="Urbanist"/>
                <a:cs typeface="Urbanist"/>
                <a:sym typeface="Urbanist"/>
              </a:rPr>
              <a:t>Modeling Approach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62000" y="1138237"/>
            <a:ext cx="10953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Dataset: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 relational dataset combining applicant demographics, historical loan records, and current loan performance from a Kenyan micro-lender.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1900237"/>
            <a:ext cx="10953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Observations: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The core performance dataset contains 4,368 distinct loan records.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62000" y="2376487"/>
            <a:ext cx="10953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The Model: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 tuned XGBoost ensemble was selected because gradient boosting excels at capturing complex, non-linear relationships within structured tabular data.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62000" y="3138487"/>
            <a:ext cx="10953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The Baseline: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 PyTorch ShallowMLP neural network (alongside DeepTabNet) served as the benchmark for evaluating the XGBoost model's predictive power.</a:t>
            </a:r>
            <a:endParaRPr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157287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919287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395537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3157537"/>
            <a:ext cx="952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476250" y="381000"/>
            <a:ext cx="11715750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Performance </a:t>
            </a:r>
            <a:r>
              <a:rPr lang="en-US" sz="3375" b="1" i="0" u="none" strike="noStrike" cap="none">
                <a:solidFill>
                  <a:srgbClr val="4CAF50"/>
                </a:solidFill>
                <a:latin typeface="Urbanist"/>
                <a:ea typeface="Urbanist"/>
                <a:cs typeface="Urbanist"/>
                <a:sym typeface="Urbanist"/>
              </a:rPr>
              <a:t>Results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762000" y="1138237"/>
            <a:ext cx="46005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Primary Metric: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Default Recall (maximizing the identification of high-risk loans).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62000" y="1900237"/>
            <a:ext cx="46005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Secondary Metrics: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AUC-ROC and F1-Score to balance overall performance.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62000" y="2662237"/>
            <a:ext cx="46005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Comparison: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The tuned XGBoost model significantly outperformed the neural network baselines.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476250" y="3614737"/>
            <a:ext cx="4886325" cy="2790825"/>
          </a:xfrm>
          <a:prstGeom prst="roundRect">
            <a:avLst>
              <a:gd name="adj" fmla="val 0"/>
            </a:avLst>
          </a:prstGeom>
          <a:solidFill>
            <a:srgbClr val="2A2A2A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0" name="Google Shape;120;p15"/>
          <p:cNvGraphicFramePr/>
          <p:nvPr>
            <p:extLst>
              <p:ext uri="{D42A27DB-BD31-4B8C-83A1-F6EECF244321}">
                <p14:modId xmlns:p14="http://schemas.microsoft.com/office/powerpoint/2010/main" val="1500565992"/>
              </p:ext>
            </p:extLst>
          </p:nvPr>
        </p:nvGraphicFramePr>
        <p:xfrm>
          <a:off x="476250" y="3614737"/>
          <a:ext cx="4886325" cy="2790775"/>
        </p:xfrm>
        <a:graphic>
          <a:graphicData uri="http://schemas.openxmlformats.org/drawingml/2006/table">
            <a:tbl>
              <a:tblPr firstRow="1" bandRow="1">
                <a:noFill/>
                <a:tableStyleId>{4CDCD309-AE55-456B-9DFD-725FCAEF04BD}</a:tableStyleId>
              </a:tblPr>
              <a:tblGrid>
                <a:gridCol w="209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3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7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Employment Status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Sample Size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AUC-ROC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Permanent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250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0.745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Self-Employed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0.720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Student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85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0.715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Unemployed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0.705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Retired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0.68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21" name="Google Shape;12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157287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919287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681287"/>
            <a:ext cx="952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/>
          <p:nvPr/>
        </p:nvSpPr>
        <p:spPr>
          <a:xfrm>
            <a:off x="476250" y="4067175"/>
            <a:ext cx="2095648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2571898" y="4067175"/>
            <a:ext cx="1493639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4065537" y="4067175"/>
            <a:ext cx="1297037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476250" y="4533900"/>
            <a:ext cx="2095648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2571898" y="4533900"/>
            <a:ext cx="1493639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4065537" y="4533900"/>
            <a:ext cx="1297037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476250" y="5000625"/>
            <a:ext cx="2095648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2571898" y="5000625"/>
            <a:ext cx="1493639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4065537" y="5000625"/>
            <a:ext cx="1297037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476250" y="5467350"/>
            <a:ext cx="2095648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2571898" y="5467350"/>
            <a:ext cx="1493639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4065537" y="5467350"/>
            <a:ext cx="1297037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476250" y="5934075"/>
            <a:ext cx="2095648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2571898" y="5934075"/>
            <a:ext cx="1493639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4065537" y="5934075"/>
            <a:ext cx="1297037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F83813-76FD-82C1-7ED8-C0F86D6D397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51067" y="2881312"/>
            <a:ext cx="6324253" cy="34559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E961D3-3F30-22BD-D9D4-C375DC936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9145"/>
            <a:ext cx="12192000" cy="469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250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3519487"/>
            <a:ext cx="112395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476250" y="381000"/>
            <a:ext cx="11715750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Responsible AI &amp; </a:t>
            </a:r>
            <a:r>
              <a:rPr lang="en-US" sz="3375" b="1" i="0" u="none" strike="noStrike" cap="none">
                <a:solidFill>
                  <a:srgbClr val="4CAF50"/>
                </a:solidFill>
                <a:latin typeface="Urbanist"/>
                <a:ea typeface="Urbanist"/>
                <a:cs typeface="Urbanist"/>
                <a:sym typeface="Urbanist"/>
              </a:rPr>
              <a:t>Limitations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762000" y="1138237"/>
            <a:ext cx="10953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Model Limits: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This system is strictly an advisory tool; it cannot replace human judgment or foresee sudden real-world shocks like severe droughts or floods.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762000" y="1900237"/>
            <a:ext cx="10953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Potential Harm: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Vulnerable smallholder farmers face severe financial exclusion if the algorithm systematically over-predicts defaults (false positives).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762000" y="2662237"/>
            <a:ext cx="10953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Fairness Criterion: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 disaggregated AUC-ROC analysis was applied across employment subgroups to verify consistent performance and audit for algorithmic bias.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714375" y="3709987"/>
            <a:ext cx="108108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Significant Limitation: The model relies entirely on historical tabular data; addressing this requires integrating live climatic data and enforcing a human-in-the-loop review process.</a:t>
            </a:r>
            <a:endParaRPr/>
          </a:p>
        </p:txBody>
      </p:sp>
      <p:pic>
        <p:nvPicPr>
          <p:cNvPr id="150" name="Google Shape;15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1157287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1919287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2681287"/>
            <a:ext cx="952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3519487"/>
            <a:ext cx="112395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476250" y="381000"/>
            <a:ext cx="11715750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Conclusions &amp; </a:t>
            </a:r>
            <a:r>
              <a:rPr lang="en-US" sz="3375" b="1" i="0" u="none" strike="noStrike" cap="none">
                <a:solidFill>
                  <a:srgbClr val="4CAF50"/>
                </a:solidFill>
                <a:latin typeface="Urbanist"/>
                <a:ea typeface="Urbanist"/>
                <a:cs typeface="Urbanist"/>
                <a:sym typeface="Urbanist"/>
              </a:rPr>
              <a:t>Next Steps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762000" y="1138237"/>
            <a:ext cx="10953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Finding 1: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Engineered behavioral features, such as repayment delay ratios, provided far stronger predictive signals than raw demographic data alone.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762000" y="1900237"/>
            <a:ext cx="10953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Finding 2: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Adjusting the classification threshold was significantly more effective at catching actual loan defaults than relying solely on SMOTE data augmentation.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762000" y="2662237"/>
            <a:ext cx="10953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Finding 3: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The gradient-boosted XGBoost architecture consistently outperformed deep neural networks on this specific structured tabular dataset.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714375" y="3709987"/>
            <a:ext cx="108108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Next Step: Partner with a Kenyan agricultural SACCO to deploy the model in a controlled pilot, actively tracking the human override rate to continually refine the system.</a:t>
            </a:r>
            <a:endParaRPr dirty="0"/>
          </a:p>
        </p:txBody>
      </p:sp>
      <p:pic>
        <p:nvPicPr>
          <p:cNvPr id="164" name="Google Shape;16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1157287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1919287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2681287"/>
            <a:ext cx="952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439</Words>
  <Application>Microsoft Office PowerPoint</Application>
  <PresentationFormat>Widescreen</PresentationFormat>
  <Paragraphs>43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Urbanist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Peter Ogola</cp:lastModifiedBy>
  <cp:revision>1</cp:revision>
  <dcterms:modified xsi:type="dcterms:W3CDTF">2026-08-10T15:15:54Z</dcterms:modified>
</cp:coreProperties>
</file>